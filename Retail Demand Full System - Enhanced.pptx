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nav kakara" userId="4e635b9ce71628a9" providerId="LiveId" clId="{2B8FC861-18D2-44B6-8AF4-7929245ABB30}"/>
    <pc:docChg chg="custSel modSld">
      <pc:chgData name="abhinav kakara" userId="4e635b9ce71628a9" providerId="LiveId" clId="{2B8FC861-18D2-44B6-8AF4-7929245ABB30}" dt="2026-03-29T10:10:40.638" v="74" actId="17032"/>
      <pc:docMkLst>
        <pc:docMk/>
      </pc:docMkLst>
      <pc:sldChg chg="addSp modSp mod">
        <pc:chgData name="abhinav kakara" userId="4e635b9ce71628a9" providerId="LiveId" clId="{2B8FC861-18D2-44B6-8AF4-7929245ABB30}" dt="2026-03-29T10:10:40.638" v="74" actId="17032"/>
        <pc:sldMkLst>
          <pc:docMk/>
          <pc:sldMk cId="0" sldId="256"/>
        </pc:sldMkLst>
        <pc:spChg chg="add mod">
          <ac:chgData name="abhinav kakara" userId="4e635b9ce71628a9" providerId="LiveId" clId="{2B8FC861-18D2-44B6-8AF4-7929245ABB30}" dt="2026-03-29T10:10:40.638" v="74" actId="17032"/>
          <ac:spMkLst>
            <pc:docMk/>
            <pc:sldMk cId="0" sldId="256"/>
            <ac:spMk id="15" creationId="{FFE5E802-B515-A740-5A15-77A04E5EA358}"/>
          </ac:spMkLst>
        </pc:spChg>
      </pc:sldChg>
    </pc:docChg>
  </pc:docChgLst>
  <pc:docChgLst>
    <pc:chgData name="abhinav kakara" userId="4e635b9ce71628a9" providerId="LiveId" clId="{91B229A8-C795-46A7-9E65-689D503DFB80}"/>
    <pc:docChg chg="modSld">
      <pc:chgData name="abhinav kakara" userId="4e635b9ce71628a9" providerId="LiveId" clId="{91B229A8-C795-46A7-9E65-689D503DFB80}" dt="2026-04-01T10:46:24.921" v="28" actId="123"/>
      <pc:docMkLst>
        <pc:docMk/>
      </pc:docMkLst>
      <pc:sldChg chg="modSp mod">
        <pc:chgData name="abhinav kakara" userId="4e635b9ce71628a9" providerId="LiveId" clId="{91B229A8-C795-46A7-9E65-689D503DFB80}" dt="2026-04-01T10:46:01.719" v="27" actId="20577"/>
        <pc:sldMkLst>
          <pc:docMk/>
          <pc:sldMk cId="0" sldId="256"/>
        </pc:sldMkLst>
        <pc:spChg chg="mod">
          <ac:chgData name="abhinav kakara" userId="4e635b9ce71628a9" providerId="LiveId" clId="{91B229A8-C795-46A7-9E65-689D503DFB80}" dt="2026-04-01T10:46:01.719" v="27" actId="20577"/>
          <ac:spMkLst>
            <pc:docMk/>
            <pc:sldMk cId="0" sldId="256"/>
            <ac:spMk id="15" creationId="{FFE5E802-B515-A740-5A15-77A04E5EA358}"/>
          </ac:spMkLst>
        </pc:spChg>
      </pc:sldChg>
      <pc:sldChg chg="modSp mod">
        <pc:chgData name="abhinav kakara" userId="4e635b9ce71628a9" providerId="LiveId" clId="{91B229A8-C795-46A7-9E65-689D503DFB80}" dt="2026-04-01T10:46:24.921" v="28" actId="123"/>
        <pc:sldMkLst>
          <pc:docMk/>
          <pc:sldMk cId="0" sldId="257"/>
        </pc:sldMkLst>
        <pc:spChg chg="mod">
          <ac:chgData name="abhinav kakara" userId="4e635b9ce71628a9" providerId="LiveId" clId="{91B229A8-C795-46A7-9E65-689D503DFB80}" dt="2026-04-01T10:46:24.921" v="28" actId="123"/>
          <ac:spMkLst>
            <pc:docMk/>
            <pc:sldMk cId="0" sldId="257"/>
            <ac:spMk id="10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0D112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1000000" y="-800000"/>
            <a:ext cx="4000000" cy="4000000"/>
          </a:xfrm>
          <a:prstGeom prst="ellipse">
            <a:avLst/>
          </a:prstGeom>
          <a:solidFill>
            <a:srgbClr val="00D2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000000" y="3500000"/>
            <a:ext cx="3500000" cy="3500000"/>
          </a:xfrm>
          <a:prstGeom prst="ellipse">
            <a:avLst/>
          </a:prstGeom>
          <a:solidFill>
            <a:srgbClr val="7C3AED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college_logo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000" y="250000"/>
            <a:ext cx="1700000" cy="17000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2950000"/>
            <a:ext cx="12192000" cy="10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00000" y="1300000"/>
            <a:ext cx="110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Intelligent Retail Demand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0000" y="200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00D2FF"/>
                </a:solidFill>
                <a:latin typeface="Calibri"/>
              </a:defRPr>
            </a:pPr>
            <a:r>
              <a:t>Clustering &amp; Forecast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00000" y="3400000"/>
            <a:ext cx="7800000" cy="700000"/>
          </a:xfrm>
          <a:prstGeom prst="roundRect">
            <a:avLst/>
          </a:prstGeom>
          <a:solidFill>
            <a:srgbClr val="151930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400000" y="3480000"/>
            <a:ext cx="7400000" cy="5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CA3BB"/>
                </a:solidFill>
                <a:latin typeface="Calibri"/>
              </a:defRPr>
            </a:pPr>
            <a:r>
              <a:rPr dirty="0"/>
              <a:t>⚡  Java-based ML Pipeline  |  SKU Segmentation  |  Demand Forecasting  |  Inventory Optimization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00000" y="4600000"/>
            <a:ext cx="6200000" cy="800000"/>
          </a:xfrm>
          <a:prstGeom prst="roundRect">
            <a:avLst/>
          </a:prstGeom>
          <a:solidFill>
            <a:srgbClr val="1A1E38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00000" y="4680000"/>
            <a:ext cx="58000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K. Abhinav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000" y="5050000"/>
            <a:ext cx="5800000" cy="2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BB"/>
                </a:solidFill>
                <a:latin typeface="Calibri"/>
              </a:defRPr>
            </a:pPr>
            <a:r>
              <a:t>Reg No: 24091A3202  |  CSE (Data Science)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 / 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E5E802-B515-A740-5A15-77A04E5EA358}"/>
              </a:ext>
            </a:extLst>
          </p:cNvPr>
          <p:cNvSpPr txBox="1"/>
          <p:nvPr/>
        </p:nvSpPr>
        <p:spPr>
          <a:xfrm>
            <a:off x="3000001" y="5680000"/>
            <a:ext cx="6200000" cy="646331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dirty="0">
                <a:solidFill>
                  <a:schemeClr val="bg2"/>
                </a:solidFill>
              </a:rPr>
              <a:t>	Under the guidance of </a:t>
            </a:r>
          </a:p>
          <a:p>
            <a:r>
              <a:rPr lang="en-IN" dirty="0">
                <a:solidFill>
                  <a:schemeClr val="bg2"/>
                </a:solidFill>
              </a:rPr>
              <a:t>				            Ms. A. Annapurna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3" dur="700" fill="hold"/>
                                  <p:tgtEl>
                                    <p:spTgt spid="8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1050"/>
                            </p:stCondLst>
                            <p:childTnLst>
                              <p:animEffect transition="in" filter="fade">
                                <p:cBhvr>
                                  <p:cTn id="17" dur="7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8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1014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800000" y="-600000"/>
            <a:ext cx="3000000" cy="3000000"/>
          </a:xfrm>
          <a:prstGeom prst="ellipse">
            <a:avLst/>
          </a:prstGeom>
          <a:solidFill>
            <a:srgbClr val="00D2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0000" y="4500000"/>
            <a:ext cx="2500000" cy="2500000"/>
          </a:xfrm>
          <a:prstGeom prst="ellipse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00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00000" y="200000"/>
            <a:ext cx="700000" cy="450000"/>
          </a:xfrm>
          <a:prstGeom prst="roundRect">
            <a:avLst/>
          </a:prstGeom>
          <a:solidFill>
            <a:srgbClr val="1E223B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0000" y="230000"/>
            <a:ext cx="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000" y="900000"/>
            <a:ext cx="2500000" cy="35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0000" y="1050000"/>
            <a:ext cx="11700000" cy="5400000"/>
          </a:xfrm>
          <a:prstGeom prst="roundRect">
            <a:avLst/>
          </a:prstGeom>
          <a:solidFill>
            <a:srgbClr val="13172D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" y="1200000"/>
            <a:ext cx="11200000" cy="1990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rPr dirty="0"/>
              <a:t>●  Retailers manage thousands of SKUs across regions with limited demand visibility.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rPr dirty="0"/>
              <a:t>●  Manual inventory planning leads to overstocking (waste) or understocking (lost sales).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rPr dirty="0"/>
              <a:t>●  No systematic way to segment products by </a:t>
            </a:r>
            <a:r>
              <a:rPr dirty="0" err="1"/>
              <a:t>behaviour</a:t>
            </a:r>
            <a:r>
              <a:rPr dirty="0"/>
              <a:t> and forecast future demand.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rPr dirty="0"/>
              <a:t>●  Budget allocation for replenishment is often ad-hoc, not data-driven.</a:t>
            </a:r>
          </a:p>
          <a:p>
            <a:pPr algn="just"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rPr dirty="0"/>
              <a:t>●  Need: An automated, intelligent system that clusters → forecasts → </a:t>
            </a:r>
            <a:r>
              <a:rPr dirty="0" err="1"/>
              <a:t>optimises</a:t>
            </a:r>
            <a:r>
              <a:rPr dirty="0"/>
              <a:t>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2 / 15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3" dur="7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1014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800000" y="-600000"/>
            <a:ext cx="3000000" cy="3000000"/>
          </a:xfrm>
          <a:prstGeom prst="ellipse">
            <a:avLst/>
          </a:prstGeom>
          <a:solidFill>
            <a:srgbClr val="00D2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0000" y="4500000"/>
            <a:ext cx="2500000" cy="2500000"/>
          </a:xfrm>
          <a:prstGeom prst="ellipse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00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00000" y="200000"/>
            <a:ext cx="700000" cy="450000"/>
          </a:xfrm>
          <a:prstGeom prst="roundRect">
            <a:avLst/>
          </a:prstGeom>
          <a:solidFill>
            <a:srgbClr val="1E223B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0000" y="230000"/>
            <a:ext cx="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Project Overview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000" y="900000"/>
            <a:ext cx="2500000" cy="35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0000" y="1050000"/>
            <a:ext cx="11700000" cy="5400000"/>
          </a:xfrm>
          <a:prstGeom prst="roundRect">
            <a:avLst/>
          </a:prstGeom>
          <a:solidFill>
            <a:srgbClr val="13172D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" y="1200000"/>
            <a:ext cx="112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An end-to-end ML pipeline built entirely in Java (JDK 17).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Covers the complete analytics lifecycle: ingestion → analysis → visualization.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Five core modules executed in sequence to produce actionable insights:</a:t>
            </a:r>
          </a:p>
          <a:p>
            <a:pPr>
              <a:spcAft>
                <a:spcPts val="300"/>
              </a:spcAft>
              <a:defRPr sz="1500">
                <a:solidFill>
                  <a:srgbClr val="9CA3BB"/>
                </a:solidFill>
              </a:defRPr>
            </a:pPr>
            <a:r>
              <a:t>       ◦  TransactionDB → ClusteringEngine → ForecastModule → InventoryOptimizer → ReportingModule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Served via a lightweight HTTP dashboard with RESTful APIs and interactive charts.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3 / 15</a:t>
            </a:r>
          </a:p>
        </p:txBody>
      </p:sp>
    </p:spTree>
  </p:cSld>
  <p:clrMapOvr>
    <a:masterClrMapping/>
  </p:clrMapOvr>
  <p:transition spd="med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3" dur="7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1014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800000" y="-600000"/>
            <a:ext cx="3000000" cy="3000000"/>
          </a:xfrm>
          <a:prstGeom prst="ellipse">
            <a:avLst/>
          </a:prstGeom>
          <a:solidFill>
            <a:srgbClr val="00D2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0000" y="4500000"/>
            <a:ext cx="2500000" cy="2500000"/>
          </a:xfrm>
          <a:prstGeom prst="ellipse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00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00000" y="200000"/>
            <a:ext cx="700000" cy="450000"/>
          </a:xfrm>
          <a:prstGeom prst="roundRect">
            <a:avLst/>
          </a:prstGeom>
          <a:solidFill>
            <a:srgbClr val="1E223B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0000" y="230000"/>
            <a:ext cx="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000" y="900000"/>
            <a:ext cx="2500000" cy="35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0000" y="1050000"/>
            <a:ext cx="11700000" cy="5400000"/>
          </a:xfrm>
          <a:prstGeom prst="roundRect">
            <a:avLst/>
          </a:prstGeom>
          <a:solidFill>
            <a:srgbClr val="13172D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" y="1200000"/>
            <a:ext cx="112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Pipeline Orchestration: PipelineService coordinates all modules with caching.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REST API Layer: ApiRouter exposes 8 endpoints.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HTTP Server: DashboardServer (com.sun.net.httpserver) on port 8080.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Frontend: Single-page dashboard (HTML/CSS/JS) with Chart.js visualizations.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Database: Embedded SQLite — zero-configuration deployment.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4 / 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3" dur="7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1014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800000" y="-600000"/>
            <a:ext cx="3000000" cy="3000000"/>
          </a:xfrm>
          <a:prstGeom prst="ellipse">
            <a:avLst/>
          </a:prstGeom>
          <a:solidFill>
            <a:srgbClr val="00D2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0000" y="4500000"/>
            <a:ext cx="2500000" cy="2500000"/>
          </a:xfrm>
          <a:prstGeom prst="ellipse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00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00000" y="200000"/>
            <a:ext cx="700000" cy="450000"/>
          </a:xfrm>
          <a:prstGeom prst="roundRect">
            <a:avLst/>
          </a:prstGeom>
          <a:solidFill>
            <a:srgbClr val="1E223B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0000" y="230000"/>
            <a:ext cx="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000" y="900000"/>
            <a:ext cx="2500000" cy="35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0000" y="1050000"/>
            <a:ext cx="11700000" cy="5400000"/>
          </a:xfrm>
          <a:prstGeom prst="roundRect">
            <a:avLst/>
          </a:prstGeom>
          <a:solidFill>
            <a:srgbClr val="13172D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" y="1200000"/>
            <a:ext cx="112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Language: Java 17 (LTS) with Maven build system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Database: SQLite via xerial/sqlite-jdbc 3.45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Math/ML: Apache Commons Math 3.6.1 — SimplexSolver for LP optimization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Serialization: Google Gson 2.10 — JSON API responses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Build: Maven Shade Plugin → single fat JAR deployment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Frontend: Vanilla HTML5, CSS3, JavaScript + Chart.js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5 / 15</a:t>
            </a:r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3" dur="7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1014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800000" y="-600000"/>
            <a:ext cx="3000000" cy="3000000"/>
          </a:xfrm>
          <a:prstGeom prst="ellipse">
            <a:avLst/>
          </a:prstGeom>
          <a:solidFill>
            <a:srgbClr val="38BDF8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0000" y="4500000"/>
            <a:ext cx="2500000" cy="2500000"/>
          </a:xfrm>
          <a:prstGeom prst="ellipse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000" cy="6858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00000" y="200000"/>
            <a:ext cx="700000" cy="450000"/>
          </a:xfrm>
          <a:prstGeom prst="roundRect">
            <a:avLst/>
          </a:prstGeom>
          <a:solidFill>
            <a:srgbClr val="1E223B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0000" y="230000"/>
            <a:ext cx="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8BDF8"/>
                </a:solidFill>
                <a:latin typeface="Calibri"/>
              </a:defRPr>
            </a:pPr>
            <a: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 1 — Transaction Database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000" y="900000"/>
            <a:ext cx="2500000" cy="35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0000" y="1050000"/>
            <a:ext cx="11700000" cy="5400000"/>
          </a:xfrm>
          <a:prstGeom prst="roundRect">
            <a:avLst/>
          </a:prstGeom>
          <a:solidFill>
            <a:srgbClr val="13172D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" y="1200000"/>
            <a:ext cx="112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Creates &amp; manages an SQLite schema with three tables:</a:t>
            </a:r>
          </a:p>
          <a:p>
            <a:pPr>
              <a:spcAft>
                <a:spcPts val="300"/>
              </a:spcAft>
              <a:defRPr sz="1500">
                <a:solidFill>
                  <a:srgbClr val="9CA3BB"/>
                </a:solidFill>
              </a:defRPr>
            </a:pPr>
            <a:r>
              <a:t>       ◦  sku_master — product catalogue</a:t>
            </a:r>
          </a:p>
          <a:p>
            <a:pPr>
              <a:spcAft>
                <a:spcPts val="300"/>
              </a:spcAft>
              <a:defRPr sz="1500">
                <a:solidFill>
                  <a:srgbClr val="9CA3BB"/>
                </a:solidFill>
              </a:defRPr>
            </a:pPr>
            <a:r>
              <a:t>       ◦  customer_master — customer dimension</a:t>
            </a:r>
          </a:p>
          <a:p>
            <a:pPr>
              <a:spcAft>
                <a:spcPts val="300"/>
              </a:spcAft>
              <a:defRPr sz="1500">
                <a:solidFill>
                  <a:srgbClr val="9CA3BB"/>
                </a:solidFill>
              </a:defRPr>
            </a:pPr>
            <a:r>
              <a:t>       ◦  sales_transactions — daily line-level sales time-series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Synthetic Data Generation: Configurable seed for reproducible experiments.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Feature Extraction: SQL JOIN aggregates per-SKU metrics for clustering.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Health Check: isHealthy() API for system status monitoring.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6 / 15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3" dur="7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1014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800000" y="-600000"/>
            <a:ext cx="3000000" cy="3000000"/>
          </a:xfrm>
          <a:prstGeom prst="ellipse">
            <a:avLst/>
          </a:prstGeom>
          <a:solidFill>
            <a:srgbClr val="E040FB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0000" y="4500000"/>
            <a:ext cx="2500000" cy="2500000"/>
          </a:xfrm>
          <a:prstGeom prst="ellipse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000" cy="68580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00000" y="200000"/>
            <a:ext cx="700000" cy="450000"/>
          </a:xfrm>
          <a:prstGeom prst="roundRect">
            <a:avLst/>
          </a:prstGeom>
          <a:solidFill>
            <a:srgbClr val="1E223B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0000" y="230000"/>
            <a:ext cx="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040FB"/>
                </a:solidFill>
                <a:latin typeface="Calibri"/>
              </a:defRPr>
            </a:pPr>
            <a: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 2 — Clustering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000" y="900000"/>
            <a:ext cx="2500000" cy="35000"/>
          </a:xfrm>
          <a:prstGeom prst="rect">
            <a:avLst/>
          </a:prstGeom>
          <a:solidFill>
            <a:srgbClr val="E04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0000" y="1050000"/>
            <a:ext cx="11700000" cy="5400000"/>
          </a:xfrm>
          <a:prstGeom prst="roundRect">
            <a:avLst/>
          </a:prstGeom>
          <a:solidFill>
            <a:srgbClr val="13172D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" y="1200000"/>
            <a:ext cx="112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Feature Standardisation: Z-score normalisation for balanced distances.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Dual Clustering Algorithms:</a:t>
            </a:r>
          </a:p>
          <a:p>
            <a:pPr>
              <a:spcAft>
                <a:spcPts val="300"/>
              </a:spcAft>
              <a:defRPr sz="1500">
                <a:solidFill>
                  <a:srgbClr val="9CA3BB"/>
                </a:solidFill>
              </a:defRPr>
            </a:pPr>
            <a:r>
              <a:t>       ◦  K-Means (Lloyd's algorithm) — multiple restarts</a:t>
            </a:r>
          </a:p>
          <a:p>
            <a:pPr>
              <a:spcAft>
                <a:spcPts val="300"/>
              </a:spcAft>
              <a:defRPr sz="1500">
                <a:solidFill>
                  <a:srgbClr val="9CA3BB"/>
                </a:solidFill>
              </a:defRPr>
            </a:pPr>
            <a:r>
              <a:t>       ◦  Agglomerative Hierarchical — average linkage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Automatic k Selection: Silhouette-based sweep over [kMin, kMax).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9-D Feature Vector: unitCost, leadTime, txnCount, totalQty, avgDailyQty, totalRevenue, avgRevenue, uniqueCustomers, activeDays.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7 / 15</a:t>
            </a:r>
          </a:p>
        </p:txBody>
      </p: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3" dur="7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1014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800000" y="-600000"/>
            <a:ext cx="3000000" cy="3000000"/>
          </a:xfrm>
          <a:prstGeom prst="ellipse">
            <a:avLst/>
          </a:prstGeom>
          <a:solidFill>
            <a:srgbClr val="00D2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0000" y="4500000"/>
            <a:ext cx="2500000" cy="2500000"/>
          </a:xfrm>
          <a:prstGeom prst="ellipse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00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00000" y="200000"/>
            <a:ext cx="700000" cy="450000"/>
          </a:xfrm>
          <a:prstGeom prst="roundRect">
            <a:avLst/>
          </a:prstGeom>
          <a:solidFill>
            <a:srgbClr val="1E223B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0000" y="230000"/>
            <a:ext cx="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 3 — Forecast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000" y="900000"/>
            <a:ext cx="2500000" cy="35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0000" y="1050000"/>
            <a:ext cx="11700000" cy="5400000"/>
          </a:xfrm>
          <a:prstGeom prst="roundRect">
            <a:avLst/>
          </a:prstGeom>
          <a:solidFill>
            <a:srgbClr val="13172D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" y="1200000"/>
            <a:ext cx="112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Algorithm: Holt-Winters Triple Exponential Smoothing (additive).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Parameters: α (level), β (trend), γ (seasonal), configurable season length.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Produces n-step-ahead forecasts (default 30 days) per demand cluster.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Accuracy Metrics: MAE, RMSE, sMAPE% — handles zero-demand gracefully.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8 / 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3" dur="7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1014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800000" y="-600000"/>
            <a:ext cx="3000000" cy="3000000"/>
          </a:xfrm>
          <a:prstGeom prst="ellipse">
            <a:avLst/>
          </a:prstGeom>
          <a:solidFill>
            <a:srgbClr val="00D2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0000" y="4500000"/>
            <a:ext cx="2500000" cy="2500000"/>
          </a:xfrm>
          <a:prstGeom prst="ellipse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00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00000" y="200000"/>
            <a:ext cx="700000" cy="450000"/>
          </a:xfrm>
          <a:prstGeom prst="roundRect">
            <a:avLst/>
          </a:prstGeom>
          <a:solidFill>
            <a:srgbClr val="1E223B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0000" y="230000"/>
            <a:ext cx="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 4 — Inventory Optimiser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000" y="900000"/>
            <a:ext cx="2500000" cy="35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0000" y="1050000"/>
            <a:ext cx="11700000" cy="5400000"/>
          </a:xfrm>
          <a:prstGeom prst="roundRect">
            <a:avLst/>
          </a:prstGeom>
          <a:solidFill>
            <a:srgbClr val="13172D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" y="1200000"/>
            <a:ext cx="112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Formulation: Linear Programme solved via Apache Commons Math SimplexSolver.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Objective: Maximise Σ (demandᵢ / Σdemand) × xᵢ  — weighted coverage.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Budget Constraint: Σ costᵢ × xᵢ ≤ totalBudget.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Capacity Bounds: Per-cluster min/max stock levels (warehouse limits).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Non-Negativity: xᵢ ≥ 0 for all clusters.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9 / 15</a:t>
            </a:r>
          </a:p>
        </p:txBody>
      </p:sp>
    </p:spTree>
  </p:cSld>
  <p:clrMapOvr>
    <a:masterClrMapping/>
  </p:clrMapOvr>
  <p:transition spd="med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3" dur="7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1014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800000" y="-600000"/>
            <a:ext cx="3000000" cy="3000000"/>
          </a:xfrm>
          <a:prstGeom prst="ellipse">
            <a:avLst/>
          </a:prstGeom>
          <a:solidFill>
            <a:srgbClr val="A78BFA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0000" y="4500000"/>
            <a:ext cx="2500000" cy="2500000"/>
          </a:xfrm>
          <a:prstGeom prst="ellipse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000" cy="6858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00000" y="200000"/>
            <a:ext cx="700000" cy="450000"/>
          </a:xfrm>
          <a:prstGeom prst="roundRect">
            <a:avLst/>
          </a:prstGeom>
          <a:solidFill>
            <a:srgbClr val="1E223B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0000" y="230000"/>
            <a:ext cx="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Module 5 — Reporting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000" y="900000"/>
            <a:ext cx="2500000" cy="350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0000" y="1050000"/>
            <a:ext cx="11700000" cy="5400000"/>
          </a:xfrm>
          <a:prstGeom prst="roundRect">
            <a:avLst/>
          </a:prstGeom>
          <a:solidFill>
            <a:srgbClr val="13172D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" y="1200000"/>
            <a:ext cx="112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Console Reports (ReportingModule.java):</a:t>
            </a:r>
          </a:p>
          <a:p>
            <a:pPr>
              <a:spcAft>
                <a:spcPts val="300"/>
              </a:spcAft>
              <a:defRPr sz="1500">
                <a:solidFill>
                  <a:srgbClr val="9CA3BB"/>
                </a:solidFill>
              </a:defRPr>
            </a:pPr>
            <a:r>
              <a:t>       ◦  Cluster Summary, Forecast Accuracy, Inventory Allocation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Web Dashboard (public/index.html):</a:t>
            </a:r>
          </a:p>
          <a:p>
            <a:pPr>
              <a:spcAft>
                <a:spcPts val="300"/>
              </a:spcAft>
              <a:defRPr sz="1500">
                <a:solidFill>
                  <a:srgbClr val="9CA3BB"/>
                </a:solidFill>
              </a:defRPr>
            </a:pPr>
            <a:r>
              <a:t>       ◦  Interactive charts, system status monitoring</a:t>
            </a:r>
          </a:p>
          <a:p>
            <a:pPr>
              <a:spcAft>
                <a:spcPts val="300"/>
              </a:spcAft>
              <a:defRPr sz="1500">
                <a:solidFill>
                  <a:srgbClr val="9CA3BB"/>
                </a:solidFill>
              </a:defRPr>
            </a:pPr>
            <a:r>
              <a:t>       ◦  Budget input with on-demand pipeline re-run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REST API (ApiRouter.java) — JSON with CORS support &amp; error handling.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10 / 15</a:t>
            </a:r>
          </a:p>
        </p:txBody>
      </p:sp>
    </p:spTree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3" dur="7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1014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800000" y="-600000"/>
            <a:ext cx="3000000" cy="3000000"/>
          </a:xfrm>
          <a:prstGeom prst="ellipse">
            <a:avLst/>
          </a:prstGeom>
          <a:solidFill>
            <a:srgbClr val="00D2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0000" y="4500000"/>
            <a:ext cx="2500000" cy="2500000"/>
          </a:xfrm>
          <a:prstGeom prst="ellipse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00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00000" y="200000"/>
            <a:ext cx="700000" cy="450000"/>
          </a:xfrm>
          <a:prstGeom prst="roundRect">
            <a:avLst/>
          </a:prstGeom>
          <a:solidFill>
            <a:srgbClr val="1E223B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0000" y="230000"/>
            <a:ext cx="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Pipeline Orchestration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000" y="900000"/>
            <a:ext cx="2500000" cy="35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0000" y="1050000"/>
            <a:ext cx="11700000" cy="5400000"/>
          </a:xfrm>
          <a:prstGeom prst="roundRect">
            <a:avLst/>
          </a:prstGeom>
          <a:solidFill>
            <a:srgbClr val="13172D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" y="1200000"/>
            <a:ext cx="112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Thread-Safe Execution: Synchronized pipeline runs with configurable params.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Result Caching: Avoids redundant computation; cache until forced re-run.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Execution Flow:</a:t>
            </a:r>
          </a:p>
          <a:p>
            <a:pPr>
              <a:spcAft>
                <a:spcPts val="300"/>
              </a:spcAft>
              <a:defRPr sz="1500">
                <a:solidFill>
                  <a:srgbClr val="9CA3BB"/>
                </a:solidFill>
              </a:defRPr>
            </a:pPr>
            <a:r>
              <a:t>       ◦  1. TransactionDB seeds data</a:t>
            </a:r>
          </a:p>
          <a:p>
            <a:pPr>
              <a:spcAft>
                <a:spcPts val="300"/>
              </a:spcAft>
              <a:defRPr sz="1500">
                <a:solidFill>
                  <a:srgbClr val="9CA3BB"/>
                </a:solidFill>
              </a:defRPr>
            </a:pPr>
            <a:r>
              <a:t>       ◦  2. ClusteringEngine runs K-Means</a:t>
            </a:r>
          </a:p>
          <a:p>
            <a:pPr>
              <a:spcAft>
                <a:spcPts val="300"/>
              </a:spcAft>
              <a:defRPr sz="1500">
                <a:solidFill>
                  <a:srgbClr val="9CA3BB"/>
                </a:solidFill>
              </a:defRPr>
            </a:pPr>
            <a:r>
              <a:t>       ◦  3. ForecastModule fits Holt-Winters</a:t>
            </a:r>
          </a:p>
          <a:p>
            <a:pPr>
              <a:spcAft>
                <a:spcPts val="300"/>
              </a:spcAft>
              <a:defRPr sz="1500">
                <a:solidFill>
                  <a:srgbClr val="9CA3BB"/>
                </a:solidFill>
              </a:defRPr>
            </a:pPr>
            <a:r>
              <a:t>       ◦  4. InventoryOptimizer allocates budget via LP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11 / 15</a:t>
            </a:r>
          </a:p>
        </p:txBody>
      </p:sp>
    </p:spTree>
  </p:cSld>
  <p:clrMapOvr>
    <a:masterClrMapping/>
  </p:clrMapOvr>
  <p:transition spd="med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3" dur="7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1014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800000" y="-600000"/>
            <a:ext cx="3000000" cy="3000000"/>
          </a:xfrm>
          <a:prstGeom prst="ellipse">
            <a:avLst/>
          </a:prstGeom>
          <a:solidFill>
            <a:srgbClr val="00D2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0000" y="4500000"/>
            <a:ext cx="2500000" cy="2500000"/>
          </a:xfrm>
          <a:prstGeom prst="ellipse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00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00000" y="200000"/>
            <a:ext cx="700000" cy="450000"/>
          </a:xfrm>
          <a:prstGeom prst="roundRect">
            <a:avLst/>
          </a:prstGeom>
          <a:solidFill>
            <a:srgbClr val="1E223B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0000" y="230000"/>
            <a:ext cx="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REST API Endpoints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000" y="900000"/>
            <a:ext cx="2500000" cy="35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0000" y="1050000"/>
            <a:ext cx="11700000" cy="5400000"/>
          </a:xfrm>
          <a:prstGeom prst="roundRect">
            <a:avLst/>
          </a:prstGeom>
          <a:solidFill>
            <a:srgbClr val="13172D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" y="1200000"/>
            <a:ext cx="112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GET  /api/health — Server health check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GET  /api/config — Current pipeline configuration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GET  /api/pipeline — Full pipeline results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GET  /api/pipeline/run — Force re-run with params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GET  /api/clusters — Cluster summary data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GET  /api/forecast — Forecast time-series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12 / 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3" dur="7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1014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800000" y="-600000"/>
            <a:ext cx="3000000" cy="3000000"/>
          </a:xfrm>
          <a:prstGeom prst="ellipse">
            <a:avLst/>
          </a:prstGeom>
          <a:solidFill>
            <a:srgbClr val="00D2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0000" y="4500000"/>
            <a:ext cx="2500000" cy="2500000"/>
          </a:xfrm>
          <a:prstGeom prst="ellipse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00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00000" y="200000"/>
            <a:ext cx="700000" cy="450000"/>
          </a:xfrm>
          <a:prstGeom prst="roundRect">
            <a:avLst/>
          </a:prstGeom>
          <a:solidFill>
            <a:srgbClr val="1E223B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0000" y="230000"/>
            <a:ext cx="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How to Build &amp; Run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000" y="900000"/>
            <a:ext cx="2500000" cy="35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0000" y="1050000"/>
            <a:ext cx="11700000" cy="5400000"/>
          </a:xfrm>
          <a:prstGeom prst="roundRect">
            <a:avLst/>
          </a:prstGeom>
          <a:solidFill>
            <a:srgbClr val="13172D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" y="1200000"/>
            <a:ext cx="112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Prerequisites: Java 17+, Apache Maven installed.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Build:   mvn compile package -DskipTests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Run:      java -jar target/retail-demand-system.jar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Access:  Open http://localhost:8080 in any browser.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13 / 15</a:t>
            </a:r>
          </a:p>
        </p:txBody>
      </p:sp>
    </p:spTree>
  </p:cSld>
  <p:clrMapOvr>
    <a:masterClrMapping/>
  </p:clrMapOvr>
  <p:transition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3" dur="7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101428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800000" y="-600000"/>
            <a:ext cx="3000000" cy="3000000"/>
          </a:xfrm>
          <a:prstGeom prst="ellipse">
            <a:avLst/>
          </a:prstGeom>
          <a:solidFill>
            <a:srgbClr val="00D2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00000" y="4500000"/>
            <a:ext cx="2500000" cy="2500000"/>
          </a:xfrm>
          <a:prstGeom prst="ellipse">
            <a:avLst/>
          </a:prstGeom>
          <a:solidFill>
            <a:srgbClr val="7C3AED">
              <a:alpha val="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7000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1200000" y="200000"/>
            <a:ext cx="700000" cy="450000"/>
          </a:xfrm>
          <a:prstGeom prst="roundRect">
            <a:avLst/>
          </a:prstGeom>
          <a:solidFill>
            <a:srgbClr val="1E223B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0000" y="230000"/>
            <a:ext cx="7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200000"/>
            <a:ext cx="10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Future Enhancements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00000" y="900000"/>
            <a:ext cx="2500000" cy="35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50000" y="1050000"/>
            <a:ext cx="11700000" cy="5400000"/>
          </a:xfrm>
          <a:prstGeom prst="roundRect">
            <a:avLst/>
          </a:prstGeom>
          <a:solidFill>
            <a:srgbClr val="13172D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0000" y="1200000"/>
            <a:ext cx="11200000" cy="5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📌  Integrate ARIMA / Prophet for advanced forecasting.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📌  Add user authentication &amp; role-based access control.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📌  Replace SQLite with PostgreSQL for production multi-user access.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📌  Deploy on cloud (AWS/Azure) with Docker + Kubernetes.</a:t>
            </a:r>
          </a:p>
          <a:p>
            <a:pPr>
              <a:spcBef>
                <a:spcPts val="200"/>
              </a:spcBef>
              <a:spcAft>
                <a:spcPts val="800"/>
              </a:spcAft>
              <a:defRPr sz="1800">
                <a:solidFill>
                  <a:srgbClr val="E2E8F0"/>
                </a:solidFill>
              </a:defRPr>
            </a:pPr>
            <a:r>
              <a:t>●  📌  Add real-time data ingestion via Kafka streams.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14 / 15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7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9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700"/>
                            </p:stCondLst>
                            <p:childTnLst>
                              <p:animEffect transition="in" filter="fade">
                                <p:cBhvr>
                                  <p:cTn id="13" dur="700" fill="hold"/>
                                  <p:tgtEl>
                                    <p:spTgt spid="10"/>
                                  </p:tgtEl>
                                </p:cBhvr>
                              </p:animEffect>
                              <p:set>
                                <p:cBhvr>
                                  <p:cTn id="1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B0E1A"/>
            </a:gs>
            <a:gs pos="100000">
              <a:srgbClr val="0D1122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500000" y="1500000"/>
            <a:ext cx="4000000" cy="4000000"/>
          </a:xfrm>
          <a:prstGeom prst="ellipse">
            <a:avLst/>
          </a:prstGeom>
          <a:solidFill>
            <a:srgbClr val="00D2FF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500000" y="-500000"/>
            <a:ext cx="3000000" cy="3000000"/>
          </a:xfrm>
          <a:prstGeom prst="ellipse">
            <a:avLst/>
          </a:prstGeom>
          <a:solidFill>
            <a:srgbClr val="7C3AED">
              <a:alpha val="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3500000"/>
            <a:ext cx="12192000" cy="8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0000" y="1500000"/>
            <a:ext cx="110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0D2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00000" y="3900000"/>
            <a:ext cx="7200000" cy="1200000"/>
          </a:xfrm>
          <a:prstGeom prst="roundRect">
            <a:avLst/>
          </a:prstGeom>
          <a:solidFill>
            <a:srgbClr val="151930"/>
          </a:solidFill>
          <a:ln>
            <a:solidFill>
              <a:srgbClr val="2D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00000" y="4000000"/>
            <a:ext cx="68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Intelligent Retail Demand Clustering &amp; Forecast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4450000"/>
            <a:ext cx="6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9CA3BB"/>
                </a:solidFill>
                <a:latin typeface="Calibri"/>
              </a:defRPr>
            </a:pPr>
            <a:r>
              <a:t>K. Abhinav  |  24091A3202  |  CSE (Data Science)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50000"/>
            <a:ext cx="12192000" cy="30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00000" y="6400000"/>
            <a:ext cx="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4748B"/>
                </a:solidFill>
                <a:latin typeface="Calibri"/>
              </a:defRPr>
            </a:pPr>
            <a:r>
              <a:t>15 / 15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animEffect transition="in" filter="fade">
                                <p:cBhvr>
                                  <p:cTn id="5" dur="700" fill="hold"/>
                                  <p:tgtEl>
                                    <p:spTgt spid="5"/>
                                  </p:tgtEl>
                                </p:cBhvr>
                              </p:animEffect>
                              <p:set>
                                <p:cBhvr>
                                  <p:cTn id="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0"/>
                      </p:stCondLst>
                      <p:childTnLst>
                        <p:par>
                          <p:cTn id="8" fill="hold">
                            <p:stCondLst>
                              <p:cond delay="350"/>
                            </p:stCondLst>
                            <p:childTnLst>
                              <p:animEffect transition="in" filter="fade">
                                <p:cBhvr>
                                  <p:cTn id="9" dur="700" fill="hold"/>
                                  <p:tgtEl>
                                    <p:spTgt spid="6"/>
                                  </p:tgtEl>
                                </p:cBhvr>
                              </p:animEffect>
                              <p:set>
                                <p:cBhvr>
                                  <p:cTn id="1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978</Words>
  <Application>Microsoft Office PowerPoint</Application>
  <PresentationFormat>Widescreen</PresentationFormat>
  <Paragraphs>122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abhinav kakara</cp:lastModifiedBy>
  <cp:revision>1</cp:revision>
  <dcterms:created xsi:type="dcterms:W3CDTF">2013-01-27T09:14:16Z</dcterms:created>
  <dcterms:modified xsi:type="dcterms:W3CDTF">2026-04-01T10:46:29Z</dcterms:modified>
  <cp:category/>
</cp:coreProperties>
</file>